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0" r:id="rId3"/>
    <p:sldId id="258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64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521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FE953-DB52-A354-C8CE-A8F4FF894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0945AA-52F9-42FB-3C86-77AC50E98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EF8A7-17DF-835B-F602-84B3A4371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9C2C2-BBB7-09FE-D034-28FDF6F40A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0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ANJIVANI_TEAL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78"/>
            <a:ext cx="9144000" cy="274321"/>
          </a:xfrm>
          <a:prstGeom prst="rect">
            <a:avLst/>
          </a:prstGeom>
          <a:solidFill>
            <a:srgbClr val="006E7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4939048"/>
            <a:ext cx="8206666" cy="167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2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UNIVERSITY  |  Online Education Division       I Course Name                                                Programme Name</a:t>
            </a:r>
            <a:endParaRPr lang="en-US" sz="8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365760" y="137160"/>
            <a:ext cx="7772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365760" y="1005840"/>
            <a:ext cx="841248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83309" y="4888495"/>
            <a:ext cx="548640" cy="2286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613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"/>
            <a:ext cx="9144000" cy="882396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006E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91540"/>
            <a:ext cx="9144000" cy="64008"/>
          </a:xfrm>
          <a:prstGeom prst="rect">
            <a:avLst/>
          </a:prstGeom>
          <a:solidFill>
            <a:srgbClr val="F7A600"/>
          </a:solidFill>
          <a:ln w="12700">
            <a:solidFill>
              <a:srgbClr val="F7A6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053328" y="301752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-10246" y="4865912"/>
            <a:ext cx="9144000" cy="282328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006E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72634" y="4890036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www.sanjivanicoe.org.in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67928" y="4915638"/>
            <a:ext cx="393192" cy="182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900" kern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b="1" smtClean="0"/>
              <a:pPr algn="r"/>
              <a:t>1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810DBA-9281-765E-B1A9-10BBD34F4DD1}"/>
              </a:ext>
            </a:extLst>
          </p:cNvPr>
          <p:cNvSpPr txBox="1"/>
          <p:nvPr/>
        </p:nvSpPr>
        <p:spPr>
          <a:xfrm>
            <a:off x="1371600" y="2199165"/>
            <a:ext cx="662210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1" dirty="0">
                <a:solidFill>
                  <a:srgbClr val="860000"/>
                </a:solidFill>
              </a:rPr>
              <a:t> </a:t>
            </a:r>
            <a:r>
              <a:rPr lang="en-US" sz="3200" b="1" i="1" dirty="0" err="1">
                <a:solidFill>
                  <a:srgbClr val="860000"/>
                </a:solidFill>
              </a:rPr>
              <a:t>CivicConnect</a:t>
            </a:r>
            <a:r>
              <a:rPr lang="en-US" sz="3200" b="1" i="1" dirty="0">
                <a:solidFill>
                  <a:srgbClr val="860000"/>
                </a:solidFill>
              </a:rPr>
              <a:t> – Smart Public Issue Reporting &amp; Tracking System</a:t>
            </a: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D8134243-7695-FDF2-57B9-EFEB64131C04}"/>
              </a:ext>
            </a:extLst>
          </p:cNvPr>
          <p:cNvSpPr/>
          <p:nvPr/>
        </p:nvSpPr>
        <p:spPr>
          <a:xfrm>
            <a:off x="1795948" y="3617013"/>
            <a:ext cx="5622107" cy="122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</a:p>
          <a:p>
            <a:pPr marL="0" indent="0" algn="ctr">
              <a:buNone/>
            </a:pPr>
            <a:r>
              <a:rPr lang="en-US" sz="1600" b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Asane</a:t>
            </a: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Akanksha   |   </a:t>
            </a:r>
            <a:r>
              <a:rPr lang="en-US" sz="1600" b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Deokar</a:t>
            </a: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Sai    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Raut Vaishnavi  |   </a:t>
            </a:r>
            <a:r>
              <a:rPr lang="en-US" sz="1600" b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Deokar</a:t>
            </a: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Aditya</a:t>
            </a:r>
          </a:p>
          <a:p>
            <a:pPr marL="0" indent="0" algn="ctr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B.J. Dange, Associate Professor</a:t>
            </a: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A82BE917-C55B-4052-2D3B-DD6A3D191172}"/>
              </a:ext>
            </a:extLst>
          </p:cNvPr>
          <p:cNvSpPr/>
          <p:nvPr/>
        </p:nvSpPr>
        <p:spPr>
          <a:xfrm>
            <a:off x="-10246" y="4852371"/>
            <a:ext cx="9144000" cy="2560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2"/>
          <p:cNvSpPr/>
          <p:nvPr/>
        </p:nvSpPr>
        <p:spPr>
          <a:xfrm>
            <a:off x="1188720" y="-76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College of Engineering, Kopargaon</a:t>
            </a:r>
            <a:endParaRPr lang="en-US" sz="3200" dirty="0"/>
          </a:p>
        </p:txBody>
      </p:sp>
      <p:sp>
        <p:nvSpPr>
          <p:cNvPr id="17" name="Text 3"/>
          <p:cNvSpPr/>
          <p:nvPr/>
        </p:nvSpPr>
        <p:spPr>
          <a:xfrm>
            <a:off x="1371600" y="441239"/>
            <a:ext cx="5943600" cy="418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2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(An Autonomous Institute, Affiliated to SPPU, Pune)</a:t>
            </a:r>
          </a:p>
          <a:p>
            <a:pPr marL="0" indent="0">
              <a:buNone/>
            </a:pPr>
            <a:r>
              <a:rPr lang="en-US" i="1" dirty="0">
                <a:solidFill>
                  <a:srgbClr val="B2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Engineering, NBA Tier-1 Accredited</a:t>
            </a:r>
            <a:endParaRPr lang="en-US" dirty="0"/>
          </a:p>
        </p:txBody>
      </p:sp>
      <p:pic>
        <p:nvPicPr>
          <p:cNvPr id="18" name="Picture 17" descr="C:\Users\Icon\Desktop\Reprt 1\COE Logo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634" y="6858"/>
            <a:ext cx="713970" cy="89711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Text 7"/>
          <p:cNvSpPr/>
          <p:nvPr/>
        </p:nvSpPr>
        <p:spPr>
          <a:xfrm>
            <a:off x="933855" y="1089279"/>
            <a:ext cx="7258131" cy="5052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Proposal Presentation</a:t>
            </a:r>
          </a:p>
        </p:txBody>
      </p:sp>
      <p:sp>
        <p:nvSpPr>
          <p:cNvPr id="23" name="Text 8"/>
          <p:cNvSpPr/>
          <p:nvPr/>
        </p:nvSpPr>
        <p:spPr>
          <a:xfrm>
            <a:off x="1105082" y="1718106"/>
            <a:ext cx="7258131" cy="282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i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T.Y. B.Tech – Computer Engineering | AY [ 2026–2027 ] | Div-A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365760" y="731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543800" y="7315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0" y="4722876"/>
            <a:ext cx="9144000" cy="25603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585216" y="4796028"/>
            <a:ext cx="16459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8046720" y="472287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65760" y="82296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65760" y="822960"/>
            <a:ext cx="2743200" cy="40233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420624" y="886968"/>
            <a:ext cx="27432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420624" y="886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49808" y="896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Asane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Akanksha  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93776" y="1298448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63</a:t>
            </a:r>
            <a:b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0124UCSF1063</a:t>
            </a:r>
            <a:b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asaneakanksha2007@gmail.com 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264408" y="82296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3264408" y="822960"/>
            <a:ext cx="2743200" cy="402336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3319272" y="886968"/>
            <a:ext cx="27432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3319272" y="886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648456" y="896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Deokar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Sai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3392424" y="1298448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66</a:t>
            </a:r>
            <a:b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0124UCSM1066</a:t>
            </a:r>
            <a:b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r>
              <a:rPr lang="en-IN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6163056" y="82296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3"/>
          <p:cNvSpPr/>
          <p:nvPr/>
        </p:nvSpPr>
        <p:spPr>
          <a:xfrm>
            <a:off x="6163056" y="822960"/>
            <a:ext cx="2743200" cy="402336"/>
          </a:xfrm>
          <a:prstGeom prst="rect">
            <a:avLst/>
          </a:prstGeom>
          <a:solidFill>
            <a:srgbClr val="3D6CB5"/>
          </a:solidFill>
          <a:ln w="12700">
            <a:solidFill>
              <a:srgbClr val="3D6C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4"/>
          <p:cNvSpPr/>
          <p:nvPr/>
        </p:nvSpPr>
        <p:spPr>
          <a:xfrm>
            <a:off x="6217920" y="886968"/>
            <a:ext cx="27432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5"/>
          <p:cNvSpPr/>
          <p:nvPr/>
        </p:nvSpPr>
        <p:spPr>
          <a:xfrm>
            <a:off x="6217920" y="886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6547104" y="896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 Vaishnavi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6291072" y="1298448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71</a:t>
            </a:r>
            <a:b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0124UCSF1063</a:t>
            </a:r>
            <a:b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365760" y="26060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9"/>
          <p:cNvSpPr/>
          <p:nvPr/>
        </p:nvSpPr>
        <p:spPr>
          <a:xfrm>
            <a:off x="365760" y="2606040"/>
            <a:ext cx="2743200" cy="402336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0"/>
          <p:cNvSpPr/>
          <p:nvPr/>
        </p:nvSpPr>
        <p:spPr>
          <a:xfrm>
            <a:off x="420624" y="2670048"/>
            <a:ext cx="27432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1"/>
          <p:cNvSpPr/>
          <p:nvPr/>
        </p:nvSpPr>
        <p:spPr>
          <a:xfrm>
            <a:off x="420624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749808" y="2679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Deokar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Aditya </a:t>
            </a:r>
            <a:endParaRPr lang="en-US" sz="1250" dirty="0"/>
          </a:p>
        </p:txBody>
      </p:sp>
      <p:sp>
        <p:nvSpPr>
          <p:cNvPr id="38" name="Text 33"/>
          <p:cNvSpPr/>
          <p:nvPr/>
        </p:nvSpPr>
        <p:spPr>
          <a:xfrm>
            <a:off x="493776" y="3081528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166</a:t>
            </a:r>
            <a:b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</a:t>
            </a:r>
            <a:b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</a:t>
            </a:r>
            <a:endParaRPr lang="en-IN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None/>
            </a:pPr>
            <a:r>
              <a:rPr lang="en-IN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3264408" y="26060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5"/>
          <p:cNvSpPr/>
          <p:nvPr/>
        </p:nvSpPr>
        <p:spPr>
          <a:xfrm>
            <a:off x="3264408" y="2606040"/>
            <a:ext cx="2743200" cy="40233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6"/>
          <p:cNvSpPr/>
          <p:nvPr/>
        </p:nvSpPr>
        <p:spPr>
          <a:xfrm>
            <a:off x="3319272" y="2670048"/>
            <a:ext cx="27432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7"/>
          <p:cNvSpPr/>
          <p:nvPr/>
        </p:nvSpPr>
        <p:spPr>
          <a:xfrm>
            <a:off x="3319272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3648456" y="2679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250" dirty="0"/>
          </a:p>
        </p:txBody>
      </p:sp>
      <p:sp>
        <p:nvSpPr>
          <p:cNvPr id="44" name="Text 39"/>
          <p:cNvSpPr/>
          <p:nvPr/>
        </p:nvSpPr>
        <p:spPr>
          <a:xfrm>
            <a:off x="3392424" y="3081528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B.J. Dange, Associate Professor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6163056" y="26060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1"/>
          <p:cNvSpPr/>
          <p:nvPr/>
        </p:nvSpPr>
        <p:spPr>
          <a:xfrm>
            <a:off x="6163056" y="2606040"/>
            <a:ext cx="2743200" cy="402336"/>
          </a:xfrm>
          <a:prstGeom prst="rect">
            <a:avLst/>
          </a:prstGeom>
          <a:solidFill>
            <a:srgbClr val="7C1D1D"/>
          </a:solidFill>
          <a:ln w="12700">
            <a:solidFill>
              <a:srgbClr val="7C1D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2"/>
          <p:cNvSpPr/>
          <p:nvPr/>
        </p:nvSpPr>
        <p:spPr>
          <a:xfrm>
            <a:off x="6217920" y="2670048"/>
            <a:ext cx="27432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3"/>
          <p:cNvSpPr/>
          <p:nvPr/>
        </p:nvSpPr>
        <p:spPr>
          <a:xfrm>
            <a:off x="621792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9" name="Text 44"/>
          <p:cNvSpPr/>
          <p:nvPr/>
        </p:nvSpPr>
        <p:spPr>
          <a:xfrm>
            <a:off x="6547104" y="2679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Academic Year</a:t>
            </a:r>
            <a:endParaRPr lang="en-US" sz="1250" dirty="0"/>
          </a:p>
        </p:txBody>
      </p:sp>
      <p:sp>
        <p:nvSpPr>
          <p:cNvPr id="50" name="Text 45"/>
          <p:cNvSpPr/>
          <p:nvPr/>
        </p:nvSpPr>
        <p:spPr>
          <a:xfrm>
            <a:off x="6291072" y="3081528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T.Y. B.Tech Computer Engg – Div [ A ] </a:t>
            </a:r>
            <a:b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AY [ 2026–2027 ] </a:t>
            </a:r>
            <a:b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 V </a:t>
            </a:r>
            <a:endParaRPr lang="en-US" sz="110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F02C26A5-B914-96B2-5114-F2E4B3776B4B}"/>
              </a:ext>
            </a:extLst>
          </p:cNvPr>
          <p:cNvSpPr/>
          <p:nvPr/>
        </p:nvSpPr>
        <p:spPr>
          <a:xfrm>
            <a:off x="-1" y="688544"/>
            <a:ext cx="9143999" cy="4754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8"/>
          <p:cNvSpPr/>
          <p:nvPr/>
        </p:nvSpPr>
        <p:spPr>
          <a:xfrm>
            <a:off x="658368" y="472287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COE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</a:t>
            </a:r>
            <a:r>
              <a:rPr lang="en-US" sz="9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95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Proposal | T.Y. B.Tech Computer Engineering</a:t>
            </a:r>
            <a:endParaRPr lang="en-US" sz="950" dirty="0"/>
          </a:p>
        </p:txBody>
      </p:sp>
      <p:pic>
        <p:nvPicPr>
          <p:cNvPr id="52" name="Picture 51" descr="C:\Users\Icon\Desktop\Reprt 1\COE Logo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31" y="4765403"/>
            <a:ext cx="348574" cy="359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365760" y="731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Introduction / Background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-1" y="688544"/>
            <a:ext cx="9143999" cy="4754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0" y="4722876"/>
            <a:ext cx="9144000" cy="25603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585216" y="4796028"/>
            <a:ext cx="16459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8046720" y="472287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65760" y="841248"/>
            <a:ext cx="5166360" cy="3703320"/>
          </a:xfrm>
          <a:prstGeom prst="rect">
            <a:avLst/>
          </a:prstGeom>
          <a:solidFill>
            <a:srgbClr val="F7F8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65760" y="841248"/>
            <a:ext cx="5166360" cy="40233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502920" y="841248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Background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2920" y="1298448"/>
            <a:ext cx="49194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Rapid urbanization has increased the number of civic issues in cities.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Problems like potholes, garbage overflow, water leakage, broken streetlights, and open manholes affect public safety and daily life.</a:t>
            </a:r>
          </a:p>
          <a:p>
            <a:pPr lvl="0"/>
            <a:r>
              <a:rPr lang="en-IN" sz="14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Existing complaint methods such as phone calls, WhatsApp, and social media are unorganized and difficult to track. </a:t>
            </a:r>
          </a:p>
          <a:p>
            <a:pPr lvl="0"/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 err="1"/>
              <a:t>CivicConnect</a:t>
            </a:r>
            <a:r>
              <a:rPr lang="en-IN" sz="1400" dirty="0"/>
              <a:t> is a web-based platform that enables citizens to report issues, track complaint status, and helps municipal authorities manage complaints efficiently. </a:t>
            </a:r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715000" y="841248"/>
            <a:ext cx="3246120" cy="2359152"/>
          </a:xfrm>
          <a:prstGeom prst="rect">
            <a:avLst/>
          </a:prstGeom>
          <a:solidFill>
            <a:srgbClr val="E4E9F2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5715000" y="841248"/>
            <a:ext cx="32461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supporting image / domain diagram here ]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658368" y="472287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COE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</a:t>
            </a:r>
            <a:r>
              <a:rPr lang="en-US" sz="9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95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Proposal | T.Y. B.Tech Computer Engineering</a:t>
            </a:r>
            <a:endParaRPr lang="en-US" sz="950" dirty="0"/>
          </a:p>
        </p:txBody>
      </p:sp>
      <p:pic>
        <p:nvPicPr>
          <p:cNvPr id="25" name="Picture 24" descr="C:\Users\Icon\Desktop\Reprt 1\COE Logo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31" y="4765403"/>
            <a:ext cx="348574" cy="359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587D01-1366-88F7-92E9-DDFD7A4EE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0543" y="761237"/>
            <a:ext cx="3280577" cy="38283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365760" y="731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Problem Statement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-1" y="688544"/>
            <a:ext cx="9143999" cy="4754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0" y="4722876"/>
            <a:ext cx="9144000" cy="25603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585216" y="4796028"/>
            <a:ext cx="16459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8046720" y="472287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65760" y="841248"/>
            <a:ext cx="5166360" cy="3703320"/>
          </a:xfrm>
          <a:prstGeom prst="rect">
            <a:avLst/>
          </a:prstGeom>
          <a:solidFill>
            <a:srgbClr val="F7F8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65760" y="841248"/>
            <a:ext cx="5166360" cy="40233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502920" y="841248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Problem Definition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2920" y="1298448"/>
            <a:ext cx="49194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Citizens face difficulty in reporting civic issues through traditional methods.</a:t>
            </a:r>
          </a:p>
          <a:p>
            <a:pPr lvl="0"/>
            <a:r>
              <a:rPr lang="en-IN" sz="14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There is no centralized platform to manage and monitor complaints.</a:t>
            </a:r>
          </a:p>
          <a:p>
            <a:pPr lvl="0"/>
            <a:r>
              <a:rPr lang="en-IN" sz="14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Duplicate complaints and lack of transparency delay the resolution process. </a:t>
            </a:r>
          </a:p>
          <a:p>
            <a:pPr lvl="0"/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Citizens are often unaware of the progress of their complaints.</a:t>
            </a:r>
          </a:p>
          <a:p>
            <a:pPr lvl="0"/>
            <a:r>
              <a:rPr lang="en-IN" sz="14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Municipal authorities also face challenges in assigning and tracking complaints effectively.</a:t>
            </a:r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715000" y="841248"/>
            <a:ext cx="3246120" cy="2359152"/>
          </a:xfrm>
          <a:prstGeom prst="rect">
            <a:avLst/>
          </a:prstGeom>
          <a:solidFill>
            <a:srgbClr val="E4E9F2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5728716" y="930402"/>
            <a:ext cx="32461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658368" y="472287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COE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</a:t>
            </a:r>
            <a:r>
              <a:rPr lang="en-US" sz="9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95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Proposal | T.Y. B.Tech Computer Engineering</a:t>
            </a:r>
            <a:endParaRPr lang="en-US" sz="950" dirty="0"/>
          </a:p>
        </p:txBody>
      </p:sp>
      <p:pic>
        <p:nvPicPr>
          <p:cNvPr id="25" name="Picture 24" descr="C:\Users\Icon\Desktop\Reprt 1\COE Logo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31" y="4765403"/>
            <a:ext cx="348574" cy="359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ABC56EE-9842-7BD9-4426-38B8FAD01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078" y="749838"/>
            <a:ext cx="3458308" cy="39329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365760" y="731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Objectives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-1" y="688544"/>
            <a:ext cx="9143999" cy="4754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0" y="4722876"/>
            <a:ext cx="9144000" cy="25603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585216" y="4796028"/>
            <a:ext cx="16459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8046720" y="472287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65760" y="841248"/>
            <a:ext cx="5166360" cy="3703320"/>
          </a:xfrm>
          <a:prstGeom prst="rect">
            <a:avLst/>
          </a:prstGeom>
          <a:solidFill>
            <a:srgbClr val="F7F8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65760" y="841248"/>
            <a:ext cx="5166360" cy="40233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502920" y="841248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SMART Objectives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2920" y="1298448"/>
            <a:ext cx="49194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Develop an online platform for reporting civic issues.</a:t>
            </a:r>
          </a:p>
          <a:p>
            <a:pPr lvl="0"/>
            <a:r>
              <a:rPr lang="en-IN" sz="14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Allow citizens to upload images and location details of the problem.</a:t>
            </a:r>
          </a:p>
          <a:p>
            <a:pPr lvl="0"/>
            <a:r>
              <a:rPr lang="en-IN" sz="14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Provide real-time complaint status tracking. </a:t>
            </a:r>
          </a:p>
          <a:p>
            <a:pPr lvl="0"/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Help municipal officers assign and resolve complaints efficiently. </a:t>
            </a:r>
          </a:p>
          <a:p>
            <a:pPr lvl="0"/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Improve transparency, accountability, and communication between citizens and authorities. </a:t>
            </a:r>
          </a:p>
          <a:p>
            <a:br>
              <a:rPr lang="en-IN" sz="1400" dirty="0"/>
            </a:br>
            <a:endParaRPr lang="en-IN" sz="14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715000" y="841248"/>
            <a:ext cx="3246120" cy="2359152"/>
          </a:xfrm>
          <a:prstGeom prst="rect">
            <a:avLst/>
          </a:prstGeom>
          <a:solidFill>
            <a:srgbClr val="E4E9F2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5715000" y="841248"/>
            <a:ext cx="32461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objectives / goal diagram here ]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658368" y="472287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COE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</a:t>
            </a:r>
            <a:r>
              <a:rPr lang="en-US" sz="9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95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Proposal | T.Y. B.Tech Computer Engineering</a:t>
            </a:r>
            <a:endParaRPr lang="en-US" sz="950" dirty="0"/>
          </a:p>
        </p:txBody>
      </p:sp>
      <p:pic>
        <p:nvPicPr>
          <p:cNvPr id="25" name="Picture 24" descr="C:\Users\Icon\Desktop\Reprt 1\COE Logo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31" y="4765403"/>
            <a:ext cx="348574" cy="359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CEE1F3-4E4B-913E-4182-1897439D2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1" y="713232"/>
            <a:ext cx="3538727" cy="38997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365760" y="731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Scope of the Project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-1" y="688544"/>
            <a:ext cx="9143999" cy="4754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0" y="4722876"/>
            <a:ext cx="9144000" cy="25603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585216" y="4796028"/>
            <a:ext cx="16459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8046720" y="472287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65760" y="841248"/>
            <a:ext cx="5166360" cy="3703320"/>
          </a:xfrm>
          <a:prstGeom prst="rect">
            <a:avLst/>
          </a:prstGeom>
          <a:solidFill>
            <a:srgbClr val="F7F8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65760" y="841248"/>
            <a:ext cx="5166360" cy="40233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502920" y="841248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Project Scope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2920" y="1298448"/>
            <a:ext cx="49194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The system can be used by citizens, municipal officers, and administrators.</a:t>
            </a:r>
          </a:p>
          <a:p>
            <a:pPr lvl="0"/>
            <a:r>
              <a:rPr lang="en-IN" sz="14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Citizens can register, submit complaints, and monitor complaint status. </a:t>
            </a:r>
          </a:p>
          <a:p>
            <a:pPr lvl="0"/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Officers can manage complaints, update progress, and add remarks.</a:t>
            </a:r>
          </a:p>
          <a:p>
            <a:pPr lvl="0"/>
            <a:r>
              <a:rPr lang="en-IN" sz="14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Administrators can monitor system performance and generate reports. </a:t>
            </a:r>
          </a:p>
          <a:p>
            <a:pPr lvl="0"/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The system can be enhanced with AI, GIS, and notification services in the future.</a:t>
            </a:r>
          </a:p>
          <a:p>
            <a:pPr>
              <a:lnSpc>
                <a:spcPct val="200000"/>
              </a:lnSpc>
              <a:spcAft>
                <a:spcPts val="700"/>
              </a:spcAft>
              <a:buSzPct val="100000"/>
            </a:pPr>
            <a:r>
              <a:rPr lang="en-IN" sz="1400" dirty="0"/>
              <a:t>	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715000" y="841248"/>
            <a:ext cx="3246120" cy="2359152"/>
          </a:xfrm>
          <a:prstGeom prst="rect">
            <a:avLst/>
          </a:prstGeom>
          <a:solidFill>
            <a:srgbClr val="E4E9F2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5715000" y="841248"/>
            <a:ext cx="32461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scope boundary diagram here ]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658368" y="472287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COE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</a:t>
            </a:r>
            <a:r>
              <a:rPr lang="en-US" sz="9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95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Proposal | T.Y. B.Tech Computer Engineering</a:t>
            </a:r>
            <a:endParaRPr lang="en-US" sz="950" dirty="0"/>
          </a:p>
        </p:txBody>
      </p:sp>
      <p:pic>
        <p:nvPicPr>
          <p:cNvPr id="25" name="Picture 24" descr="C:\Users\Icon\Desktop\Reprt 1\COE Logo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31" y="4765403"/>
            <a:ext cx="348574" cy="359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MuniCitizen - Citizen engagement software | MuniLogic">
            <a:extLst>
              <a:ext uri="{FF2B5EF4-FFF2-40B4-BE49-F238E27FC236}">
                <a16:creationId xmlns:a16="http://schemas.microsoft.com/office/drawing/2014/main" id="{CB988D94-8262-3CD5-DF2F-B2DBF5AB8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736092"/>
            <a:ext cx="3584448" cy="39392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365760" y="731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Literature Survey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-1" y="688544"/>
            <a:ext cx="9143999" cy="4754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0" y="4722876"/>
            <a:ext cx="9144000" cy="25603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585216" y="4796028"/>
            <a:ext cx="16459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8046720" y="472287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65760" y="841248"/>
            <a:ext cx="5166360" cy="3703320"/>
          </a:xfrm>
          <a:prstGeom prst="rect">
            <a:avLst/>
          </a:prstGeom>
          <a:solidFill>
            <a:srgbClr val="F7F8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65760" y="841248"/>
            <a:ext cx="5166360" cy="40233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502920" y="841248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Related Work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2920" y="1298448"/>
            <a:ext cx="49194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Existing complaint management systems mainly focus on complaint registration.</a:t>
            </a:r>
          </a:p>
          <a:p>
            <a:pPr lvl="0"/>
            <a:r>
              <a:rPr lang="en-IN" sz="14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Most systems provide limited tracking and reporting features.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Many applications do not support duplicate complaint detection or analytics.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Recent research recommends digital platforms to improve transparency and public service delivery.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CivicConnect</a:t>
            </a:r>
            <a:r>
              <a:rPr lang="en-IN" sz="1400" dirty="0"/>
              <a:t> combines complaint management with dashboards and future AI capabilities.</a:t>
            </a:r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715000" y="841248"/>
            <a:ext cx="3246120" cy="2359152"/>
          </a:xfrm>
          <a:prstGeom prst="rect">
            <a:avLst/>
          </a:prstGeom>
          <a:solidFill>
            <a:srgbClr val="E4E9F2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5715000" y="841248"/>
            <a:ext cx="32461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comparison table / summary chart here ]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658368" y="472287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COE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</a:t>
            </a:r>
            <a:r>
              <a:rPr lang="en-US" sz="9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95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Proposal | T.Y. B.Tech Computer Engineering</a:t>
            </a:r>
            <a:endParaRPr lang="en-US" sz="950" dirty="0"/>
          </a:p>
        </p:txBody>
      </p:sp>
      <p:pic>
        <p:nvPicPr>
          <p:cNvPr id="25" name="Picture 24" descr="C:\Users\Icon\Desktop\Reprt 1\COE Logo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31" y="4765403"/>
            <a:ext cx="348574" cy="359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Literature Review And Theoretical Framework PPT Graphics AT">
            <a:extLst>
              <a:ext uri="{FF2B5EF4-FFF2-40B4-BE49-F238E27FC236}">
                <a16:creationId xmlns:a16="http://schemas.microsoft.com/office/drawing/2014/main" id="{41969BD5-2D8E-CC9B-A94E-B745AB0AD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355" y="761622"/>
            <a:ext cx="3452446" cy="38625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365760" y="731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Proposed System / Methodology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-1" y="688544"/>
            <a:ext cx="9143999" cy="4754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0" y="4722876"/>
            <a:ext cx="9144000" cy="25603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585216" y="4796028"/>
            <a:ext cx="16459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8046720" y="472287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65760" y="841248"/>
            <a:ext cx="5166360" cy="3703320"/>
          </a:xfrm>
          <a:prstGeom prst="rect">
            <a:avLst/>
          </a:prstGeom>
          <a:solidFill>
            <a:srgbClr val="F7F8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Shape 11"/>
          <p:cNvSpPr/>
          <p:nvPr/>
        </p:nvSpPr>
        <p:spPr>
          <a:xfrm>
            <a:off x="365760" y="841248"/>
            <a:ext cx="5166360" cy="40233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502920" y="841248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Approach &amp; Modules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2920" y="1298448"/>
            <a:ext cx="49194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Users register and log in securely using role-based authentication.</a:t>
            </a:r>
          </a:p>
          <a:p>
            <a:pPr lvl="0"/>
            <a:r>
              <a:rPr lang="en-IN" sz="14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Citizens submit complaints by entering issue details, location, and uploading images.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Complaint information is stored in a centralized MySQL database.</a:t>
            </a:r>
          </a:p>
          <a:p>
            <a:pPr lvl="0"/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Officers review complaints, assign departments, and update their status.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Citizens receive real-time updates while administrators monitor reports and analytics.</a:t>
            </a:r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715000" y="841248"/>
            <a:ext cx="3246120" cy="2359152"/>
          </a:xfrm>
          <a:prstGeom prst="rect">
            <a:avLst/>
          </a:prstGeom>
          <a:solidFill>
            <a:srgbClr val="E4E9F2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5715000" y="841248"/>
            <a:ext cx="32461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System Architecture / Block Diagram Here ]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658368" y="472287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COE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</a:t>
            </a:r>
            <a:r>
              <a:rPr lang="en-US" sz="9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95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Proposal | T.Y. B.Tech Computer Engineering</a:t>
            </a:r>
            <a:endParaRPr lang="en-US" sz="950" dirty="0"/>
          </a:p>
        </p:txBody>
      </p:sp>
      <p:pic>
        <p:nvPicPr>
          <p:cNvPr id="25" name="Picture 24" descr="C:\Users\Icon\Desktop\Reprt 1\COE Logo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31" y="4765403"/>
            <a:ext cx="348574" cy="359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OneSumX® for Complaint Management | Wolters Kluwer">
            <a:extLst>
              <a:ext uri="{FF2B5EF4-FFF2-40B4-BE49-F238E27FC236}">
                <a16:creationId xmlns:a16="http://schemas.microsoft.com/office/drawing/2014/main" id="{25454C1F-CF7E-13EA-6229-2CDFBFC73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713232"/>
            <a:ext cx="3579935" cy="39063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365760" y="731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Tools and Technologies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-1" y="688544"/>
            <a:ext cx="9143999" cy="4754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0" y="4722876"/>
            <a:ext cx="9144000" cy="25603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585216" y="4796028"/>
            <a:ext cx="16459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8046720" y="472287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65760" y="841248"/>
            <a:ext cx="5166360" cy="3703320"/>
          </a:xfrm>
          <a:prstGeom prst="rect">
            <a:avLst/>
          </a:prstGeom>
          <a:solidFill>
            <a:srgbClr val="F7F8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65760" y="841248"/>
            <a:ext cx="5166360" cy="40233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502920" y="841248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Tech Stack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69005" y="1218895"/>
            <a:ext cx="49194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Backend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Python 3.x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Flask Framework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Flask-Login / JWT Authentication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SQLAlchemy</a:t>
            </a:r>
            <a:r>
              <a:rPr lang="en-IN" sz="1400" dirty="0"/>
              <a:t> (ORM) </a:t>
            </a:r>
          </a:p>
          <a:p>
            <a:pPr lvl="0"/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Frontend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HTML5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CSS3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Bootstrap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JavaScript</a:t>
            </a:r>
          </a:p>
          <a:p>
            <a:pPr>
              <a:lnSpc>
                <a:spcPct val="200000"/>
              </a:lnSpc>
              <a:spcAft>
                <a:spcPts val="700"/>
              </a:spcAft>
              <a:buSzPct val="100000"/>
            </a:pP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715000" y="841248"/>
            <a:ext cx="3246120" cy="2359152"/>
          </a:xfrm>
          <a:prstGeom prst="rect">
            <a:avLst/>
          </a:prstGeom>
          <a:solidFill>
            <a:srgbClr val="E4E9F2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5715000" y="841248"/>
            <a:ext cx="32461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technology stack diagram here ]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658368" y="472287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COE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</a:t>
            </a:r>
            <a:r>
              <a:rPr lang="en-US" sz="9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95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Proposal | T.Y. B.Tech Computer Engineering</a:t>
            </a:r>
            <a:endParaRPr lang="en-US" sz="950" dirty="0"/>
          </a:p>
        </p:txBody>
      </p:sp>
      <p:pic>
        <p:nvPicPr>
          <p:cNvPr id="25" name="Picture 24" descr="C:\Users\Icon\Desktop\Reprt 1\COE Logo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31" y="4765403"/>
            <a:ext cx="348574" cy="35934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5AC737-9FF6-A90F-29A2-F6E2612F8216}"/>
              </a:ext>
            </a:extLst>
          </p:cNvPr>
          <p:cNvSpPr txBox="1"/>
          <p:nvPr/>
        </p:nvSpPr>
        <p:spPr>
          <a:xfrm>
            <a:off x="3131784" y="1321237"/>
            <a:ext cx="225669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Database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MySQL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lvl="0"/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Development Tools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VS Code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Postman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Git &amp; GitHub </a:t>
            </a:r>
          </a:p>
          <a:p>
            <a:endParaRPr lang="en-IN" dirty="0"/>
          </a:p>
        </p:txBody>
      </p:sp>
      <p:pic>
        <p:nvPicPr>
          <p:cNvPr id="3" name="Picture 2" descr="Part 1 - Creating the Assistant">
            <a:extLst>
              <a:ext uri="{FF2B5EF4-FFF2-40B4-BE49-F238E27FC236}">
                <a16:creationId xmlns:a16="http://schemas.microsoft.com/office/drawing/2014/main" id="{A4FE713C-A61F-4176-9212-02DFD55F2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352" y="736092"/>
            <a:ext cx="3331488" cy="39392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365760" y="731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Hardware &amp; Software Requirements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-1" y="688544"/>
            <a:ext cx="9143999" cy="4754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0" y="4722876"/>
            <a:ext cx="9144000" cy="25603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585216" y="4796028"/>
            <a:ext cx="16459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8046720" y="472287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292608" y="841248"/>
            <a:ext cx="5166360" cy="3703320"/>
          </a:xfrm>
          <a:prstGeom prst="rect">
            <a:avLst/>
          </a:prstGeom>
          <a:solidFill>
            <a:srgbClr val="F7F8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65760" y="841248"/>
            <a:ext cx="5166360" cy="40233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502920" y="841248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Requirements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2920" y="1298448"/>
            <a:ext cx="49194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Hardware Requirements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Processor: Intel Core i3 or higher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RAM: Minimum 8 GB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Storage: 256 GB SSD or higher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Internet</a:t>
            </a:r>
            <a:r>
              <a:rPr lang="en-IN" sz="1400" b="1" dirty="0"/>
              <a:t>:</a:t>
            </a:r>
            <a:r>
              <a:rPr lang="en-IN" sz="1400" dirty="0"/>
              <a:t> Stable Internet Connection 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715000" y="841248"/>
            <a:ext cx="3246120" cy="2359152"/>
          </a:xfrm>
          <a:prstGeom prst="rect">
            <a:avLst/>
          </a:prstGeom>
          <a:solidFill>
            <a:srgbClr val="E4E9F2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5715000" y="841248"/>
            <a:ext cx="32461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hardware setup / system requirement image here ]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658368" y="472287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COE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</a:t>
            </a:r>
            <a:r>
              <a:rPr lang="en-US" sz="9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95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Proposal | T.Y. B.Tech Computer Engineering</a:t>
            </a:r>
            <a:endParaRPr lang="en-US" sz="950" dirty="0"/>
          </a:p>
        </p:txBody>
      </p:sp>
      <p:pic>
        <p:nvPicPr>
          <p:cNvPr id="25" name="Picture 24" descr="C:\Users\Icon\Desktop\Reprt 1\COE Logo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31" y="4765403"/>
            <a:ext cx="348574" cy="359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399F02-B2A8-7F4B-A548-B07860E120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72"/>
          <a:stretch>
            <a:fillRect/>
          </a:stretch>
        </p:blipFill>
        <p:spPr>
          <a:xfrm>
            <a:off x="5515661" y="850392"/>
            <a:ext cx="3552139" cy="38980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BB9D02-9E16-696D-09C9-8B2F305DADEC}"/>
              </a:ext>
            </a:extLst>
          </p:cNvPr>
          <p:cNvSpPr txBox="1"/>
          <p:nvPr/>
        </p:nvSpPr>
        <p:spPr>
          <a:xfrm>
            <a:off x="429768" y="2376083"/>
            <a:ext cx="381820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Software Requirements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Windows 10/11 or Linux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Python 3.x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Flask Framework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MySQL Server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Visual Studio Code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Postman (API Testing)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Git &amp; GitHub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Web Browser (Google Chrome/Microsoft Edge)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365760" y="731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Expected Outcomes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-1" y="688544"/>
            <a:ext cx="9143999" cy="4754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0" y="4722876"/>
            <a:ext cx="9144000" cy="25603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585216" y="4796028"/>
            <a:ext cx="16459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8046720" y="472287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65760" y="841248"/>
            <a:ext cx="5166360" cy="3703320"/>
          </a:xfrm>
          <a:prstGeom prst="rect">
            <a:avLst/>
          </a:prstGeom>
          <a:solidFill>
            <a:srgbClr val="F7F8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65760" y="841248"/>
            <a:ext cx="5166360" cy="40233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502920" y="841248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Deliverables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2920" y="1298448"/>
            <a:ext cx="49194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A centralized platform for reporting and managing civic complaints.</a:t>
            </a:r>
          </a:p>
          <a:p>
            <a:pPr lvl="0"/>
            <a:r>
              <a:rPr lang="en-IN" sz="14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Faster complaint processing and resolution.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Improved transparency through real-time complaint tracking.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Better coordination between citizens and municipal departments.</a:t>
            </a:r>
          </a:p>
          <a:p>
            <a:pPr lvl="0"/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Reports and analytics to support better decision-making. </a:t>
            </a:r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715000" y="841248"/>
            <a:ext cx="3246120" cy="2359152"/>
          </a:xfrm>
          <a:prstGeom prst="rect">
            <a:avLst/>
          </a:prstGeom>
          <a:solidFill>
            <a:srgbClr val="E4E9F2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5715000" y="841248"/>
            <a:ext cx="32461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expected result / output screenshot here ]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658368" y="472287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COE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</a:t>
            </a:r>
            <a:r>
              <a:rPr lang="en-US" sz="9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95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Proposal | T.Y. B.Tech Computer Engineering</a:t>
            </a:r>
            <a:endParaRPr lang="en-US" sz="950" dirty="0"/>
          </a:p>
        </p:txBody>
      </p:sp>
      <p:pic>
        <p:nvPicPr>
          <p:cNvPr id="25" name="Picture 24" descr="C:\Users\Icon\Desktop\Reprt 1\COE Logo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31" y="4765403"/>
            <a:ext cx="348574" cy="359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MuniCitizen - Citizen engagement software | MuniLogic">
            <a:extLst>
              <a:ext uri="{FF2B5EF4-FFF2-40B4-BE49-F238E27FC236}">
                <a16:creationId xmlns:a16="http://schemas.microsoft.com/office/drawing/2014/main" id="{9C09D2DA-D78D-84C9-1AE7-F07404016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713232"/>
            <a:ext cx="3566158" cy="40096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365760" y="731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Project Timeline / Work Plan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543800" y="7315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Schedule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0" y="4722876"/>
            <a:ext cx="9144000" cy="25603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585216" y="4796028"/>
            <a:ext cx="16459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8046720" y="472287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65760" y="82296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65760" y="822960"/>
            <a:ext cx="2743200" cy="40233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420624" y="886968"/>
            <a:ext cx="27432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420624" y="886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49808" y="896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&amp; Requirement Analysis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93776" y="1298448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100" dirty="0"/>
              <a:t>Literature Survey </a:t>
            </a:r>
          </a:p>
          <a:p>
            <a:pPr lvl="0"/>
            <a:r>
              <a:rPr lang="en-IN" sz="1100" dirty="0"/>
              <a:t>Requirement Gathering </a:t>
            </a:r>
          </a:p>
          <a:p>
            <a:pPr lvl="0"/>
            <a:r>
              <a:rPr lang="en-IN" sz="1100" dirty="0"/>
              <a:t>System Design </a:t>
            </a:r>
          </a:p>
          <a:p>
            <a:pPr lvl="0"/>
            <a:r>
              <a:rPr lang="en-IN" sz="1100" dirty="0"/>
              <a:t>Database Design</a:t>
            </a:r>
          </a:p>
          <a:p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264408" y="82296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3264408" y="822960"/>
            <a:ext cx="2743200" cy="402336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3319272" y="886968"/>
            <a:ext cx="27432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3319272" y="886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648456" y="896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Development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3392424" y="1298448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100" dirty="0"/>
              <a:t>User Registration &amp; Login </a:t>
            </a:r>
          </a:p>
          <a:p>
            <a:pPr lvl="0"/>
            <a:r>
              <a:rPr lang="en-IN" sz="1100" dirty="0"/>
              <a:t>Authentication System </a:t>
            </a:r>
          </a:p>
          <a:p>
            <a:pPr lvl="0"/>
            <a:r>
              <a:rPr lang="en-IN" sz="1100" dirty="0"/>
              <a:t>Complaint Registration </a:t>
            </a:r>
          </a:p>
          <a:p>
            <a:pPr lvl="0"/>
            <a:r>
              <a:rPr lang="en-IN" sz="1100" dirty="0"/>
              <a:t>Image Upload </a:t>
            </a:r>
          </a:p>
          <a:p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163056" y="82296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3"/>
          <p:cNvSpPr/>
          <p:nvPr/>
        </p:nvSpPr>
        <p:spPr>
          <a:xfrm>
            <a:off x="6163056" y="822960"/>
            <a:ext cx="2743200" cy="402336"/>
          </a:xfrm>
          <a:prstGeom prst="rect">
            <a:avLst/>
          </a:prstGeom>
          <a:solidFill>
            <a:srgbClr val="3D6CB5"/>
          </a:solidFill>
          <a:ln w="12700">
            <a:solidFill>
              <a:srgbClr val="3D6CB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9" name="Shape 24"/>
          <p:cNvSpPr/>
          <p:nvPr/>
        </p:nvSpPr>
        <p:spPr>
          <a:xfrm>
            <a:off x="6217920" y="886968"/>
            <a:ext cx="27432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5"/>
          <p:cNvSpPr/>
          <p:nvPr/>
        </p:nvSpPr>
        <p:spPr>
          <a:xfrm>
            <a:off x="6217920" y="886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6547104" y="896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Development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6291072" y="1298448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100" dirty="0"/>
              <a:t>Officer Dashboard </a:t>
            </a:r>
          </a:p>
          <a:p>
            <a:pPr lvl="0"/>
            <a:r>
              <a:rPr lang="en-IN" sz="1100" dirty="0"/>
              <a:t>Complaint Management </a:t>
            </a:r>
          </a:p>
          <a:p>
            <a:pPr lvl="0"/>
            <a:r>
              <a:rPr lang="en-IN" sz="1100" dirty="0"/>
              <a:t>Status Updates </a:t>
            </a:r>
          </a:p>
          <a:p>
            <a:pPr lvl="0"/>
            <a:r>
              <a:rPr lang="en-IN" sz="1100" dirty="0"/>
              <a:t>Remarks Management </a:t>
            </a:r>
          </a:p>
          <a:p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365760" y="26060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9"/>
          <p:cNvSpPr/>
          <p:nvPr/>
        </p:nvSpPr>
        <p:spPr>
          <a:xfrm>
            <a:off x="365760" y="2606040"/>
            <a:ext cx="2743200" cy="402336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5" name="Shape 30"/>
          <p:cNvSpPr/>
          <p:nvPr/>
        </p:nvSpPr>
        <p:spPr>
          <a:xfrm>
            <a:off x="420624" y="2670048"/>
            <a:ext cx="27432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1"/>
          <p:cNvSpPr/>
          <p:nvPr/>
        </p:nvSpPr>
        <p:spPr>
          <a:xfrm>
            <a:off x="420624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749808" y="2679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Integration </a:t>
            </a:r>
            <a:endParaRPr lang="en-US" sz="1250" dirty="0"/>
          </a:p>
        </p:txBody>
      </p:sp>
      <p:sp>
        <p:nvSpPr>
          <p:cNvPr id="38" name="Text 33"/>
          <p:cNvSpPr/>
          <p:nvPr/>
        </p:nvSpPr>
        <p:spPr>
          <a:xfrm>
            <a:off x="493776" y="3081528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100" dirty="0"/>
              <a:t>Admin Dashboard </a:t>
            </a:r>
          </a:p>
          <a:p>
            <a:pPr lvl="0"/>
            <a:r>
              <a:rPr lang="en-IN" sz="1100" dirty="0"/>
              <a:t>Reports &amp; Analytics </a:t>
            </a:r>
          </a:p>
          <a:p>
            <a:pPr lvl="0"/>
            <a:r>
              <a:rPr lang="en-IN" sz="1100" dirty="0"/>
              <a:t>Department Management </a:t>
            </a:r>
          </a:p>
          <a:p>
            <a:pPr lvl="0"/>
            <a:r>
              <a:rPr lang="en-IN" sz="1100" dirty="0"/>
              <a:t>Complaint Tracking </a:t>
            </a:r>
          </a:p>
          <a:p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3264408" y="26060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5"/>
          <p:cNvSpPr/>
          <p:nvPr/>
        </p:nvSpPr>
        <p:spPr>
          <a:xfrm>
            <a:off x="3264408" y="2606040"/>
            <a:ext cx="2743200" cy="40233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6"/>
          <p:cNvSpPr/>
          <p:nvPr/>
        </p:nvSpPr>
        <p:spPr>
          <a:xfrm>
            <a:off x="3319272" y="2670048"/>
            <a:ext cx="27432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7"/>
          <p:cNvSpPr/>
          <p:nvPr/>
        </p:nvSpPr>
        <p:spPr>
          <a:xfrm>
            <a:off x="3319272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3648456" y="2679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Testing</a:t>
            </a:r>
            <a:endParaRPr lang="en-US" sz="1250" dirty="0"/>
          </a:p>
        </p:txBody>
      </p:sp>
      <p:sp>
        <p:nvSpPr>
          <p:cNvPr id="44" name="Text 39"/>
          <p:cNvSpPr/>
          <p:nvPr/>
        </p:nvSpPr>
        <p:spPr>
          <a:xfrm>
            <a:off x="3392424" y="3081528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100" dirty="0"/>
              <a:t>Module Integration </a:t>
            </a:r>
          </a:p>
          <a:p>
            <a:pPr lvl="0"/>
            <a:r>
              <a:rPr lang="en-IN" sz="1100" dirty="0"/>
              <a:t>API Testing </a:t>
            </a:r>
          </a:p>
          <a:p>
            <a:pPr lvl="0"/>
            <a:r>
              <a:rPr lang="en-IN" sz="1100" dirty="0"/>
              <a:t>Bug Fixing </a:t>
            </a:r>
          </a:p>
          <a:p>
            <a:pPr lvl="0"/>
            <a:r>
              <a:rPr lang="en-IN" sz="1100" dirty="0"/>
              <a:t>Performance Testing </a:t>
            </a:r>
          </a:p>
          <a:p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6163056" y="26060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1"/>
          <p:cNvSpPr/>
          <p:nvPr/>
        </p:nvSpPr>
        <p:spPr>
          <a:xfrm>
            <a:off x="6163056" y="2606040"/>
            <a:ext cx="2743200" cy="402336"/>
          </a:xfrm>
          <a:prstGeom prst="rect">
            <a:avLst/>
          </a:prstGeom>
          <a:solidFill>
            <a:srgbClr val="7C1D1D"/>
          </a:solidFill>
          <a:ln w="12700">
            <a:solidFill>
              <a:srgbClr val="7C1D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2"/>
          <p:cNvSpPr/>
          <p:nvPr/>
        </p:nvSpPr>
        <p:spPr>
          <a:xfrm>
            <a:off x="6217920" y="2670048"/>
            <a:ext cx="27432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3"/>
          <p:cNvSpPr/>
          <p:nvPr/>
        </p:nvSpPr>
        <p:spPr>
          <a:xfrm>
            <a:off x="621792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9" name="Text 44"/>
          <p:cNvSpPr/>
          <p:nvPr/>
        </p:nvSpPr>
        <p:spPr>
          <a:xfrm>
            <a:off x="6547104" y="2679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Final Presentation</a:t>
            </a:r>
            <a:endParaRPr lang="en-US" sz="1250" dirty="0"/>
          </a:p>
        </p:txBody>
      </p:sp>
      <p:sp>
        <p:nvSpPr>
          <p:cNvPr id="50" name="Text 45"/>
          <p:cNvSpPr/>
          <p:nvPr/>
        </p:nvSpPr>
        <p:spPr>
          <a:xfrm>
            <a:off x="6291072" y="3081528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/>
              <a:t>Deployed Product along with the Documentation</a:t>
            </a: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F02C26A5-B914-96B2-5114-F2E4B3776B4B}"/>
              </a:ext>
            </a:extLst>
          </p:cNvPr>
          <p:cNvSpPr/>
          <p:nvPr/>
        </p:nvSpPr>
        <p:spPr>
          <a:xfrm>
            <a:off x="-1" y="688544"/>
            <a:ext cx="9143999" cy="4754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8"/>
          <p:cNvSpPr/>
          <p:nvPr/>
        </p:nvSpPr>
        <p:spPr>
          <a:xfrm>
            <a:off x="658368" y="472287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COE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</a:t>
            </a:r>
            <a:r>
              <a:rPr lang="en-US" sz="9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95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Proposal | T.Y. B.Tech Computer Engineering</a:t>
            </a:r>
            <a:endParaRPr lang="en-US" sz="950" dirty="0"/>
          </a:p>
        </p:txBody>
      </p:sp>
      <p:pic>
        <p:nvPicPr>
          <p:cNvPr id="52" name="Picture 51" descr="C:\Users\Icon\Desktop\Reprt 1\COE Logo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31" y="4765403"/>
            <a:ext cx="348574" cy="359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365760" y="731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Feasibility Study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-1" y="688544"/>
            <a:ext cx="9143999" cy="4754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0" y="4722876"/>
            <a:ext cx="9144000" cy="25603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585216" y="4796028"/>
            <a:ext cx="16459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8046720" y="472287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65760" y="841248"/>
            <a:ext cx="5166360" cy="3703320"/>
          </a:xfrm>
          <a:prstGeom prst="rect">
            <a:avLst/>
          </a:prstGeom>
          <a:solidFill>
            <a:srgbClr val="F7F8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65760" y="841248"/>
            <a:ext cx="5166360" cy="40233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502920" y="841248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Feasibility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2920" y="1298448"/>
            <a:ext cx="49194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b="1" dirty="0"/>
              <a:t>Technical Feasibility</a:t>
            </a:r>
          </a:p>
          <a:p>
            <a:pPr lvl="0"/>
            <a:r>
              <a:rPr lang="en-IN" sz="1400" dirty="0"/>
              <a:t>Developed using modern open-source technologies.</a:t>
            </a:r>
          </a:p>
          <a:p>
            <a:pPr lvl="0"/>
            <a:r>
              <a:rPr lang="en-IN" sz="1400" dirty="0"/>
              <a:t> </a:t>
            </a:r>
          </a:p>
          <a:p>
            <a:r>
              <a:rPr lang="en-IN" sz="1400" b="1" dirty="0"/>
              <a:t>Economic Feasibility</a:t>
            </a:r>
          </a:p>
          <a:p>
            <a:pPr lvl="0"/>
            <a:r>
              <a:rPr lang="en-IN" sz="1400" dirty="0"/>
              <a:t>Low development and maintenance cost. </a:t>
            </a:r>
          </a:p>
          <a:p>
            <a:pPr lvl="0"/>
            <a:endParaRPr lang="en-IN" sz="1400" dirty="0"/>
          </a:p>
          <a:p>
            <a:r>
              <a:rPr lang="en-IN" sz="1400" b="1" dirty="0"/>
              <a:t>Operational Feasibility</a:t>
            </a:r>
          </a:p>
          <a:p>
            <a:pPr lvl="0"/>
            <a:r>
              <a:rPr lang="en-IN" sz="1400" dirty="0"/>
              <a:t>User-friendly interface for citizens and officers. </a:t>
            </a:r>
          </a:p>
          <a:p>
            <a:pPr lvl="0"/>
            <a:endParaRPr lang="en-IN" sz="1400" dirty="0"/>
          </a:p>
          <a:p>
            <a:r>
              <a:rPr lang="en-IN" sz="1400" b="1" dirty="0"/>
              <a:t>Schedule Feasibility</a:t>
            </a:r>
          </a:p>
          <a:p>
            <a:pPr lvl="0"/>
            <a:r>
              <a:rPr lang="en-IN" sz="1400" dirty="0"/>
              <a:t>Can be completed within approximately 5 weeks. </a:t>
            </a:r>
          </a:p>
          <a:p>
            <a:pPr>
              <a:lnSpc>
                <a:spcPct val="200000"/>
              </a:lnSpc>
              <a:spcAft>
                <a:spcPts val="700"/>
              </a:spcAft>
              <a:buSzPct val="100000"/>
            </a:pP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715000" y="841248"/>
            <a:ext cx="3246120" cy="2359152"/>
          </a:xfrm>
          <a:prstGeom prst="rect">
            <a:avLst/>
          </a:prstGeom>
          <a:solidFill>
            <a:srgbClr val="E4E9F2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5715000" y="841248"/>
            <a:ext cx="32461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feasibility assessment summary here ]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658368" y="472287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COE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</a:t>
            </a:r>
            <a:r>
              <a:rPr lang="en-US" sz="9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95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Proposal | T.Y. B.Tech Computer Engineering</a:t>
            </a:r>
            <a:endParaRPr lang="en-US" sz="950" dirty="0"/>
          </a:p>
        </p:txBody>
      </p:sp>
      <p:pic>
        <p:nvPicPr>
          <p:cNvPr id="25" name="Picture 24" descr="C:\Users\Icon\Desktop\Reprt 1\COE Logo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31" y="4765403"/>
            <a:ext cx="348574" cy="359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E11A7C-089C-1737-DE54-554919E910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46" b="15803"/>
          <a:stretch>
            <a:fillRect/>
          </a:stretch>
        </p:blipFill>
        <p:spPr>
          <a:xfrm>
            <a:off x="5715000" y="850392"/>
            <a:ext cx="3246120" cy="23500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365759" y="73152"/>
            <a:ext cx="78534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Sustainable Development Goals (SDG) Mapped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-1" y="688544"/>
            <a:ext cx="9143999" cy="4754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0" y="4722876"/>
            <a:ext cx="9144000" cy="25603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585216" y="4796028"/>
            <a:ext cx="16459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8046720" y="472287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65760" y="841248"/>
            <a:ext cx="5166360" cy="3703320"/>
          </a:xfrm>
          <a:prstGeom prst="rect">
            <a:avLst/>
          </a:prstGeom>
          <a:solidFill>
            <a:srgbClr val="F7F8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65760" y="841248"/>
            <a:ext cx="5166360" cy="40233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502920" y="841248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SDG Alignment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2920" y="1298448"/>
            <a:ext cx="49194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b="1" dirty="0"/>
              <a:t>SDG 11 – Sustainable Cities and Communities</a:t>
            </a:r>
          </a:p>
          <a:p>
            <a:endParaRPr lang="en-IN" sz="1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Promotes clean, safe, and well-managed urban environments.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Encourages active citizen participation in city governance.</a:t>
            </a:r>
          </a:p>
          <a:p>
            <a:pPr lvl="0"/>
            <a:r>
              <a:rPr lang="en-IN" sz="1400" dirty="0"/>
              <a:t> </a:t>
            </a:r>
          </a:p>
          <a:p>
            <a:r>
              <a:rPr lang="en-IN" sz="1400" b="1" dirty="0"/>
              <a:t>SDG 16 – Peace, Justice and Strong Institutions</a:t>
            </a:r>
          </a:p>
          <a:p>
            <a:endParaRPr lang="en-IN" sz="1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Improves transparency and accountability in public services.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Strengthens trust between citizens and government authorities.</a:t>
            </a:r>
          </a:p>
          <a:p>
            <a:pPr>
              <a:lnSpc>
                <a:spcPct val="200000"/>
              </a:lnSpc>
              <a:spcAft>
                <a:spcPts val="700"/>
              </a:spcAft>
              <a:buSzPct val="100000"/>
            </a:pP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715000" y="841248"/>
            <a:ext cx="3246120" cy="2359152"/>
          </a:xfrm>
          <a:prstGeom prst="rect">
            <a:avLst/>
          </a:prstGeom>
          <a:solidFill>
            <a:srgbClr val="E4E9F2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5715000" y="841248"/>
            <a:ext cx="32461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SDG icon(s) relevant to the project here ]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658368" y="472287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COE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</a:t>
            </a:r>
            <a:r>
              <a:rPr lang="en-US" sz="9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95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Proposal | T.Y. B.Tech Computer Engineering</a:t>
            </a:r>
            <a:endParaRPr lang="en-US" sz="950" dirty="0"/>
          </a:p>
        </p:txBody>
      </p:sp>
      <p:pic>
        <p:nvPicPr>
          <p:cNvPr id="25" name="Picture 24" descr="C:\Users\Icon\Desktop\Reprt 1\COE Logo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31" y="4765403"/>
            <a:ext cx="348574" cy="359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Trondheim city and IOTA gear up its smart city development towards Sustainable Development Goals | by Wilfried Pimenta | Medium">
            <a:extLst>
              <a:ext uri="{FF2B5EF4-FFF2-40B4-BE49-F238E27FC236}">
                <a16:creationId xmlns:a16="http://schemas.microsoft.com/office/drawing/2014/main" id="{D7EC30F7-1C41-DEE6-1701-D73385A42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841248"/>
            <a:ext cx="3541316" cy="38340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365760" y="731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References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-1" y="688544"/>
            <a:ext cx="9143999" cy="4754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0" y="4722876"/>
            <a:ext cx="9144000" cy="25603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585216" y="4796028"/>
            <a:ext cx="16459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8046720" y="472287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65760" y="841248"/>
            <a:ext cx="5166360" cy="3703320"/>
          </a:xfrm>
          <a:prstGeom prst="rect">
            <a:avLst/>
          </a:prstGeom>
          <a:solidFill>
            <a:srgbClr val="F7F8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65760" y="841248"/>
            <a:ext cx="5166360" cy="40233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502920" y="841248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IEEE Format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2920" y="1298448"/>
            <a:ext cx="49194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Smart Cities Mission, Government of India</a:t>
            </a:r>
          </a:p>
          <a:p>
            <a:pPr lvl="0"/>
            <a:r>
              <a:rPr lang="en-IN" sz="14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Spring Boot Documentation </a:t>
            </a:r>
          </a:p>
          <a:p>
            <a:pPr lvl="0"/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Oracle Java Documentation</a:t>
            </a:r>
          </a:p>
          <a:p>
            <a:pPr lvl="0"/>
            <a:r>
              <a:rPr lang="en-IN" sz="14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MySQL Documentation </a:t>
            </a:r>
          </a:p>
          <a:p>
            <a:pPr lvl="0"/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IEEE Xplore Digital Library</a:t>
            </a:r>
          </a:p>
          <a:p>
            <a:pPr lvl="0"/>
            <a:r>
              <a:rPr lang="en-IN" sz="14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Google Scholar </a:t>
            </a:r>
          </a:p>
          <a:p>
            <a:pPr>
              <a:spcAft>
                <a:spcPts val="700"/>
              </a:spcAft>
              <a:buSzPct val="100000"/>
            </a:pP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715000" y="841248"/>
            <a:ext cx="3246120" cy="2359152"/>
          </a:xfrm>
          <a:prstGeom prst="rect">
            <a:avLst/>
          </a:prstGeom>
          <a:solidFill>
            <a:srgbClr val="E4E9F2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5715000" y="841248"/>
            <a:ext cx="32461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additional reference / citation notes here ]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658368" y="472287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COE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</a:t>
            </a:r>
            <a:r>
              <a:rPr lang="en-US" sz="9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95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Proposal | T.Y. B.Tech Computer Engineering</a:t>
            </a:r>
            <a:endParaRPr lang="en-US" sz="950" dirty="0"/>
          </a:p>
        </p:txBody>
      </p:sp>
      <p:pic>
        <p:nvPicPr>
          <p:cNvPr id="25" name="Picture 24" descr="C:\Users\Icon\Desktop\Reprt 1\COE Logo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31" y="4765403"/>
            <a:ext cx="348574" cy="359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EC8A6E-576A-7A46-5DE0-4A44914FC4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513"/>
          <a:stretch>
            <a:fillRect/>
          </a:stretch>
        </p:blipFill>
        <p:spPr>
          <a:xfrm>
            <a:off x="5715000" y="841248"/>
            <a:ext cx="3246120" cy="23751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C8987-BE4B-8017-842B-D299422C9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0F575EF-613A-17F0-4657-5CA5D215EF29}"/>
              </a:ext>
            </a:extLst>
          </p:cNvPr>
          <p:cNvSpPr/>
          <p:nvPr/>
        </p:nvSpPr>
        <p:spPr>
          <a:xfrm>
            <a:off x="0" y="6858"/>
            <a:ext cx="9144000" cy="882396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006E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E15AB6C-EA7E-E7A6-A565-4611BF038E2C}"/>
              </a:ext>
            </a:extLst>
          </p:cNvPr>
          <p:cNvSpPr/>
          <p:nvPr/>
        </p:nvSpPr>
        <p:spPr>
          <a:xfrm>
            <a:off x="0" y="891540"/>
            <a:ext cx="9144000" cy="64008"/>
          </a:xfrm>
          <a:prstGeom prst="rect">
            <a:avLst/>
          </a:prstGeom>
          <a:solidFill>
            <a:srgbClr val="F7A600"/>
          </a:solidFill>
          <a:ln w="12700">
            <a:solidFill>
              <a:srgbClr val="F7A6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5E47C4B-B5C9-0D6D-6F63-DA1B53611857}"/>
              </a:ext>
            </a:extLst>
          </p:cNvPr>
          <p:cNvSpPr/>
          <p:nvPr/>
        </p:nvSpPr>
        <p:spPr>
          <a:xfrm>
            <a:off x="6053328" y="301752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4566457D-67B5-B103-2CDC-C9FBCABC37BB}"/>
              </a:ext>
            </a:extLst>
          </p:cNvPr>
          <p:cNvSpPr/>
          <p:nvPr/>
        </p:nvSpPr>
        <p:spPr>
          <a:xfrm>
            <a:off x="-10246" y="4865912"/>
            <a:ext cx="9144000" cy="282328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006E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583FB9B-9A1B-9185-B353-FA18E1DF873C}"/>
              </a:ext>
            </a:extLst>
          </p:cNvPr>
          <p:cNvSpPr/>
          <p:nvPr/>
        </p:nvSpPr>
        <p:spPr>
          <a:xfrm>
            <a:off x="172634" y="4890036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www.sanjivanicoe.org.in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3A9422D-EFF5-F6E1-EAE4-FA1926C8DE4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93674" y="4880964"/>
            <a:ext cx="548640" cy="34747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900" kern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b="1" smtClean="0"/>
              <a:pPr algn="r"/>
              <a:t>16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EC5A3B-4B6C-B259-7578-E3706E86E155}"/>
              </a:ext>
            </a:extLst>
          </p:cNvPr>
          <p:cNvSpPr txBox="1"/>
          <p:nvPr/>
        </p:nvSpPr>
        <p:spPr>
          <a:xfrm>
            <a:off x="1326432" y="2234198"/>
            <a:ext cx="64706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8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>
              <a:solidFill>
                <a:srgbClr val="860000"/>
              </a:solidFill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3F37940E-E09F-AC56-F414-466C68AC7244}"/>
              </a:ext>
            </a:extLst>
          </p:cNvPr>
          <p:cNvSpPr/>
          <p:nvPr/>
        </p:nvSpPr>
        <p:spPr>
          <a:xfrm>
            <a:off x="-10246" y="4847096"/>
            <a:ext cx="9144000" cy="25603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2"/>
          <p:cNvSpPr/>
          <p:nvPr/>
        </p:nvSpPr>
        <p:spPr>
          <a:xfrm>
            <a:off x="1188720" y="-76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College of Engineering, Kopargaon</a:t>
            </a:r>
            <a:endParaRPr lang="en-US" sz="3200" dirty="0"/>
          </a:p>
        </p:txBody>
      </p:sp>
      <p:sp>
        <p:nvSpPr>
          <p:cNvPr id="15" name="Text 3"/>
          <p:cNvSpPr/>
          <p:nvPr/>
        </p:nvSpPr>
        <p:spPr>
          <a:xfrm>
            <a:off x="1371600" y="441239"/>
            <a:ext cx="5943600" cy="418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2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(An Autonomous Institute, Affiliated to SPPU, Pune)</a:t>
            </a:r>
          </a:p>
          <a:p>
            <a:pPr marL="0" indent="0">
              <a:buNone/>
            </a:pPr>
            <a:r>
              <a:rPr lang="en-US" i="1" dirty="0">
                <a:solidFill>
                  <a:srgbClr val="B2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Engineering, NBA Tier-1 Accredited</a:t>
            </a:r>
            <a:endParaRPr lang="en-US" dirty="0"/>
          </a:p>
        </p:txBody>
      </p:sp>
      <p:pic>
        <p:nvPicPr>
          <p:cNvPr id="16" name="Picture 15" descr="C:\Users\Icon\Desktop\Reprt 1\COE Logo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634" y="6858"/>
            <a:ext cx="713970" cy="8971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6869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1092</TotalTime>
  <Words>1431</Words>
  <Application>Microsoft Office PowerPoint</Application>
  <PresentationFormat>On-screen Show (16:9)</PresentationFormat>
  <Paragraphs>270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Sanjivani University – E-Content Lecture Template</dc:title>
  <dc:subject>PptxGenJS Presentation</dc:subject>
  <dc:creator>Sanjivani University</dc:creator>
  <cp:lastModifiedBy>rutuja kachole</cp:lastModifiedBy>
  <cp:revision>46</cp:revision>
  <dcterms:created xsi:type="dcterms:W3CDTF">2026-04-21T08:42:42Z</dcterms:created>
  <dcterms:modified xsi:type="dcterms:W3CDTF">2026-07-29T18:17:36Z</dcterms:modified>
</cp:coreProperties>
</file>